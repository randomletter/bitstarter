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B0622D"/>
                </a:solidFill>
                <a:latin typeface="Georgia"/>
              </a:rPr>
              <a:t>SANTIAGO</a:t>
            </a:r>
          </a:p>
          <a:p>
            <a:pPr algn="ctr">
              <a:spcBef>
                <a:spcPts val="600"/>
              </a:spcBef>
            </a:pPr>
            <a:r>
              <a:rPr sz="2500" b="1" i="1">
                <a:solidFill>
                  <a:srgbClr val="3A2C1A"/>
                </a:solidFill>
                <a:latin typeface="Georgia"/>
              </a:rPr>
              <a:t>“The water flows where the money goes!”</a:t>
            </a:r>
          </a:p>
          <a:p>
            <a:pPr algn="ctr">
              <a:spcBef>
                <a:spcPts val="2000"/>
              </a:spcBef>
            </a:pPr>
            <a:r>
              <a:rPr sz="1600" b="0" i="0">
                <a:solidFill>
                  <a:srgbClr val="3A2C1A"/>
                </a:solidFill>
                <a:latin typeface="Georgia"/>
              </a:rPr>
              <a:t>A game of plantations, irrigation and bribery — Claudia Hely &amp; Roman Pelek (AMIGO, 2003)</a:t>
            </a:r>
          </a:p>
          <a:p>
            <a:pPr algn="ctr"/>
            <a:r>
              <a:rPr sz="1600" b="0" i="0">
                <a:solidFill>
                  <a:srgbClr val="3A2C1A"/>
                </a:solidFill>
                <a:latin typeface="Georgia"/>
              </a:rPr>
              <a:t>3–5 players · ages 10+ · about 60 minutes</a:t>
            </a:r>
          </a:p>
        </p:txBody>
      </p:sp>
      <p:pic>
        <p:nvPicPr>
          <p:cNvPr id="3" name="Picture 2" descr="tile_ban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343400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543153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Bananas</a:t>
            </a:r>
          </a:p>
        </p:txBody>
      </p:sp>
      <p:pic>
        <p:nvPicPr>
          <p:cNvPr id="5" name="Picture 4" descr="tile_sug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343400"/>
            <a:ext cx="1051560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94760" y="543153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Sugar cane</a:t>
            </a:r>
          </a:p>
        </p:txBody>
      </p:sp>
      <p:pic>
        <p:nvPicPr>
          <p:cNvPr id="7" name="Picture 6" descr="tile_pot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343400"/>
            <a:ext cx="105156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0" y="543153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Potatoes</a:t>
            </a:r>
          </a:p>
        </p:txBody>
      </p:sp>
      <p:pic>
        <p:nvPicPr>
          <p:cNvPr id="9" name="Picture 8" descr="tile_b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343400"/>
            <a:ext cx="1051560" cy="1051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43153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Beans</a:t>
            </a:r>
          </a:p>
        </p:txBody>
      </p:sp>
      <p:pic>
        <p:nvPicPr>
          <p:cNvPr id="11" name="Picture 10" descr="tile_pep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343400"/>
            <a:ext cx="1051560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3880" y="543153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Red peppers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The island of Santiago</a:t>
            </a:r>
          </a:p>
          <a:p>
            <a:r>
              <a:rPr sz="1300" b="0" i="1">
                <a:solidFill>
                  <a:srgbClr val="FFE8C8"/>
                </a:solidFill>
                <a:latin typeface="Georgia"/>
              </a:rPr>
              <a:t>What the game is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900" b="0" i="0">
                <a:solidFill>
                  <a:srgbClr val="3A2C1A"/>
                </a:solidFill>
                <a:latin typeface="Georgia"/>
              </a:rPr>
              <a:t>On the hot Cape Verde island of Santiago, every drop of water is precious.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900" b="1" i="0">
                <a:solidFill>
                  <a:srgbClr val="3A2C1A"/>
                </a:solidFill>
                <a:latin typeface="Georgia"/>
              </a:rPr>
              <a:t>Your goal: </a:t>
            </a:r>
            <a:r>
              <a:rPr sz="1900" b="0" i="0">
                <a:solidFill>
                  <a:srgbClr val="3A2C1A"/>
                </a:solidFill>
                <a:latin typeface="Georgia"/>
              </a:rPr>
              <a:t>Buy plantations at auction, join them into big same-crop areas, and get canals built to them — dry plantations crumble to desert.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900" b="1" i="0">
                <a:solidFill>
                  <a:srgbClr val="3A2C1A"/>
                </a:solidFill>
                <a:latin typeface="Georgia"/>
              </a:rPr>
              <a:t>The twist: </a:t>
            </a:r>
            <a:r>
              <a:rPr sz="1900" b="0" i="0">
                <a:solidFill>
                  <a:srgbClr val="3A2C1A"/>
                </a:solidFill>
                <a:latin typeface="Georgia"/>
              </a:rPr>
              <a:t>Canals go where the Canal Overseer wants. The Overseer listens to bribes.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900" b="1" i="0">
                <a:solidFill>
                  <a:srgbClr val="3A2C1A"/>
                </a:solidFill>
                <a:latin typeface="Georgia"/>
              </a:rPr>
              <a:t>Winning: </a:t>
            </a:r>
            <a:r>
              <a:rPr sz="1900" b="0" i="0">
                <a:solidFill>
                  <a:srgbClr val="3A2C1A"/>
                </a:solidFill>
                <a:latin typeface="Georgia"/>
              </a:rPr>
              <a:t>Most money at the end wins. Every Escudo spent must earn itself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605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622D"/>
                </a:solidFill>
                <a:latin typeface="Georgia"/>
              </a:rPr>
              <a:t>Five crops to grow:</a:t>
            </a:r>
          </a:p>
        </p:txBody>
      </p:sp>
      <p:pic>
        <p:nvPicPr>
          <p:cNvPr id="6" name="Picture 5" descr="tile_ban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470916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06040" y="579729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Bananas</a:t>
            </a:r>
          </a:p>
        </p:txBody>
      </p:sp>
      <p:pic>
        <p:nvPicPr>
          <p:cNvPr id="8" name="Picture 7" descr="tile_sug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709160"/>
            <a:ext cx="1051560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69080" y="579729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Sugar cane</a:t>
            </a:r>
          </a:p>
        </p:txBody>
      </p:sp>
      <p:pic>
        <p:nvPicPr>
          <p:cNvPr id="10" name="Picture 9" descr="tile_pot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70916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579729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Potatoes</a:t>
            </a:r>
          </a:p>
        </p:txBody>
      </p:sp>
      <p:pic>
        <p:nvPicPr>
          <p:cNvPr id="12" name="Picture 11" descr="tile_b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709160"/>
            <a:ext cx="1051560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95160" y="579729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Beans</a:t>
            </a:r>
          </a:p>
        </p:txBody>
      </p:sp>
      <p:pic>
        <p:nvPicPr>
          <p:cNvPr id="14" name="Picture 13" descr="tile_pep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709160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579729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2C1A"/>
                </a:solidFill>
                <a:latin typeface="Georgia"/>
              </a:rPr>
              <a:t>Red peppers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What’s in the 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486400" cy="237744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622D"/>
                </a:solidFill>
                <a:latin typeface="Georgia"/>
              </a:rPr>
              <a:t>45 plantation tiles</a:t>
            </a:r>
          </a:p>
        </p:txBody>
      </p:sp>
      <p:pic>
        <p:nvPicPr>
          <p:cNvPr id="6" name="Picture 5" descr="tile_ban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841248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935224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2C1A"/>
                </a:solidFill>
                <a:latin typeface="Georgia"/>
              </a:rPr>
              <a:t>Bananas</a:t>
            </a:r>
          </a:p>
        </p:txBody>
      </p:sp>
      <p:pic>
        <p:nvPicPr>
          <p:cNvPr id="8" name="Picture 7" descr="tile_sug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057400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935224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2C1A"/>
                </a:solidFill>
                <a:latin typeface="Georgia"/>
              </a:rPr>
              <a:t>Sugar cane</a:t>
            </a:r>
          </a:p>
        </p:txBody>
      </p:sp>
      <p:pic>
        <p:nvPicPr>
          <p:cNvPr id="10" name="Picture 9" descr="tile_pota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057400"/>
            <a:ext cx="841248" cy="8412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97480" y="2935224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2C1A"/>
                </a:solidFill>
                <a:latin typeface="Georgia"/>
              </a:rPr>
              <a:t>Potatoes</a:t>
            </a:r>
          </a:p>
        </p:txBody>
      </p:sp>
      <p:pic>
        <p:nvPicPr>
          <p:cNvPr id="12" name="Picture 11" descr="tile_b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057400"/>
            <a:ext cx="841248" cy="841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2935224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2C1A"/>
                </a:solidFill>
                <a:latin typeface="Georgia"/>
              </a:rPr>
              <a:t>Beans</a:t>
            </a:r>
          </a:p>
        </p:txBody>
      </p:sp>
      <p:pic>
        <p:nvPicPr>
          <p:cNvPr id="14" name="Picture 13" descr="tile_pep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57400"/>
            <a:ext cx="841248" cy="8412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09160" y="2935224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2C1A"/>
                </a:solidFill>
                <a:latin typeface="Georgia"/>
              </a:rPr>
              <a:t>Red peppers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2C1A"/>
                </a:solidFill>
                <a:latin typeface="Georgia"/>
              </a:rPr>
              <a:t>9 per crop — with 1 or 2 planters in the corner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371600"/>
            <a:ext cx="5394960" cy="237744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622D"/>
                </a:solidFill>
                <a:latin typeface="Georgia"/>
              </a:rPr>
              <a:t>22 yield markers each</a:t>
            </a:r>
          </a:p>
        </p:txBody>
      </p:sp>
      <p:pic>
        <p:nvPicPr>
          <p:cNvPr id="19" name="Picture 18" descr="markers_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2240280"/>
            <a:ext cx="3383280" cy="6035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4652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2C1A"/>
                </a:solidFill>
                <a:latin typeface="Georgia"/>
              </a:rPr>
              <a:t>your stake in a plantation — one colour per player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5486400" cy="237744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622D"/>
                </a:solidFill>
                <a:latin typeface="Georgia"/>
              </a:rPr>
              <a:t>15 canals · 1 spring</a:t>
            </a:r>
          </a:p>
        </p:txBody>
      </p:sp>
      <p:pic>
        <p:nvPicPr>
          <p:cNvPr id="23" name="Picture 22" descr="canal_piec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228" y="4800600"/>
            <a:ext cx="3915783" cy="118872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63640" y="3977639"/>
            <a:ext cx="5394960" cy="237744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622D"/>
                </a:solidFill>
                <a:latin typeface="Georgia"/>
              </a:rPr>
              <a:t>Escudos &amp; the Canal Overseer</a:t>
            </a:r>
          </a:p>
        </p:txBody>
      </p:sp>
      <p:pic>
        <p:nvPicPr>
          <p:cNvPr id="26" name="Picture 25" descr="mone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4709160"/>
            <a:ext cx="1005840" cy="1005840"/>
          </a:xfrm>
          <a:prstGeom prst="rect">
            <a:avLst/>
          </a:prstGeom>
        </p:spPr>
      </p:pic>
      <p:pic>
        <p:nvPicPr>
          <p:cNvPr id="27" name="Picture 26" descr="overse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4709160"/>
            <a:ext cx="1005840" cy="1005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0" y="5760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2C1A"/>
                </a:solidFill>
                <a:latin typeface="Georgia"/>
              </a:rPr>
              <a:t>start with 10 — keep yours hidden!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760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2C1A"/>
                </a:solidFill>
                <a:latin typeface="Georgia"/>
              </a:rPr>
              <a:t>decides where water 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Setting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700" b="1" i="0">
                <a:solidFill>
                  <a:srgbClr val="3A2C1A"/>
                </a:solidFill>
                <a:latin typeface="Georgia"/>
              </a:rPr>
              <a:t>Spring: </a:t>
            </a:r>
            <a:r>
              <a:rPr sz="1700" b="0" i="0">
                <a:solidFill>
                  <a:srgbClr val="3A2C1A"/>
                </a:solidFill>
                <a:latin typeface="Georgia"/>
              </a:rPr>
              <a:t>Spring on any ditch intersection — the middle is friendlier.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700" b="1" i="0">
                <a:solidFill>
                  <a:srgbClr val="3A2C1A"/>
                </a:solidFill>
                <a:latin typeface="Georgia"/>
              </a:rPr>
              <a:t>Tiles: </a:t>
            </a:r>
            <a:r>
              <a:rPr sz="1700" b="0" i="0">
                <a:solidFill>
                  <a:srgbClr val="3A2C1A"/>
                </a:solidFill>
                <a:latin typeface="Georgia"/>
              </a:rPr>
              <a:t>3–4 players: four face-down piles of 11 tiles (one tile removed). 5 players: five piles of 9.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700" b="1" i="0">
                <a:solidFill>
                  <a:srgbClr val="3A2C1A"/>
                </a:solidFill>
                <a:latin typeface="Georgia"/>
              </a:rPr>
              <a:t>Canals: </a:t>
            </a:r>
            <a:r>
              <a:rPr sz="1700" b="0" i="0">
                <a:solidFill>
                  <a:srgbClr val="3A2C1A"/>
                </a:solidFill>
                <a:latin typeface="Georgia"/>
              </a:rPr>
              <a:t>11 canals by the board (9 with five players) + one personal “extra canal” each.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700" b="1" i="0">
                <a:solidFill>
                  <a:srgbClr val="3A2C1A"/>
                </a:solidFill>
                <a:latin typeface="Georgia"/>
              </a:rPr>
              <a:t>Players: </a:t>
            </a:r>
            <a:r>
              <a:rPr sz="1700" b="0" i="0">
                <a:solidFill>
                  <a:srgbClr val="3A2C1A"/>
                </a:solidFill>
                <a:latin typeface="Georgia"/>
              </a:rPr>
              <a:t>10 Escudos, 22 markers and a proposal canal per player; someone random takes the Overseer figure.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700" b="1" i="0">
                <a:solidFill>
                  <a:srgbClr val="3A2C1A"/>
                </a:solidFill>
                <a:latin typeface="Georgia"/>
              </a:rPr>
              <a:t>Length: </a:t>
            </a:r>
            <a:r>
              <a:rPr sz="1700" b="0" i="0">
                <a:solidFill>
                  <a:srgbClr val="3A2C1A"/>
                </a:solidFill>
                <a:latin typeface="Georgia"/>
              </a:rPr>
              <a:t>11 rounds (3–4 players) or 9 rounds (5) — exactly until all tiles are placed.</a:t>
            </a:r>
          </a:p>
        </p:txBody>
      </p:sp>
      <p:pic>
        <p:nvPicPr>
          <p:cNvPr id="5" name="Picture 4" descr="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212080" cy="33096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509697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Board with the spring on a central intersection; face-down tile piles beside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Key concept — building canals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Canals lie on the brown ditch lines, always intersection to intersection.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The network grows out from the spring — every new canal must touch the spring or an existing canal.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Branching and loops are fine.</a:t>
            </a:r>
          </a:p>
        </p:txBody>
      </p:sp>
      <p:pic>
        <p:nvPicPr>
          <p:cNvPr id="5" name="Picture 4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41605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A7FB8"/>
                </a:solidFill>
                <a:latin typeface="Georgia"/>
              </a:rPr>
              <a:t>Only 15 canals all game —
water is the scarcest resource</a:t>
            </a:r>
          </a:p>
        </p:txBody>
      </p:sp>
      <p:pic>
        <p:nvPicPr>
          <p:cNvPr id="7" name="Picture 6" descr="ca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5120640" cy="419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566082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✔ touches the network — allowed.   ✘ floats free of the network — not allowed.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Key concept — irrigation &amp; yield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Place a plantation, add your markers: one per planter shown on the tile.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Irrigated: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A plantation touching a canal on any side is irrigated —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5120640" cy="338328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_bi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6324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983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2C1A"/>
                </a:solidFill>
                <a:latin typeface="Georgia"/>
              </a:rPr>
              <a:t>1 planter → 1 marker</a:t>
            </a:r>
          </a:p>
        </p:txBody>
      </p:sp>
      <p:pic>
        <p:nvPicPr>
          <p:cNvPr id="8" name="Picture 7" descr="diag_bi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06324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4983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2C1A"/>
                </a:solidFill>
                <a:latin typeface="Georgia"/>
              </a:rPr>
              <a:t>2 planters → 2 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2C1A"/>
                </a:solidFill>
                <a:latin typeface="Georgia"/>
              </a:rPr>
              <a:t>markers = your share of the harvest</a:t>
            </a:r>
          </a:p>
        </p:txBody>
      </p:sp>
      <p:pic>
        <p:nvPicPr>
          <p:cNvPr id="11" name="Picture 10" descr="irr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832" y="2743200"/>
            <a:ext cx="5409456" cy="3017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810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Next to a canal: irrigated ✔ — cut off from the water: drying 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Key concept — connected areas</a:t>
            </a:r>
          </a:p>
          <a:p>
            <a:r>
              <a:rPr sz="1300" b="0" i="1">
                <a:solidFill>
                  <a:srgbClr val="FFE8C8"/>
                </a:solidFill>
                <a:latin typeface="Georgia"/>
              </a:rPr>
              <a:t>Where the money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Same-crop tiles touching side by side form one area — markers of several players can share it.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Diagonal never counts; a canal running through does NOT split an area.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Value: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Area value for you = its tiles × your markers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A2C1A"/>
                </a:solidFill>
                <a:latin typeface="Georgia"/>
              </a:rPr>
              <a:t>The 4-tile banana area is worth: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07408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0622D"/>
                </a:solidFill>
                <a:latin typeface="Georgia"/>
              </a:rPr>
              <a:t>Beige: 4 tiles × 3 markers = 12 Esc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050A8"/>
                </a:solidFill>
                <a:latin typeface="Georgia"/>
              </a:rPr>
              <a:t>Purple: 4 tiles × 1 marker = 4 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3A2E"/>
                </a:solidFill>
                <a:latin typeface="Georgia"/>
              </a:rPr>
              <a:t>The diagonal banana belongs to a different area.</a:t>
            </a:r>
          </a:p>
        </p:txBody>
      </p:sp>
      <p:pic>
        <p:nvPicPr>
          <p:cNvPr id="9" name="Picture 8" descr="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5120640" cy="3988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5455845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One 4-tile banana area (canal through it and a neutral tile included) — the ✘ tile touches only diagonally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A round at a glance</a:t>
            </a:r>
          </a:p>
          <a:p>
            <a:r>
              <a:rPr sz="1300" b="0" i="1">
                <a:solidFill>
                  <a:srgbClr val="FFE8C8"/>
                </a:solidFill>
                <a:latin typeface="Georgia"/>
              </a:rPr>
              <a:t>Seven phases, always in this order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438912" cy="438912"/>
          </a:xfrm>
          <a:prstGeom prst="ellipse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pic>
        <p:nvPicPr>
          <p:cNvPr id="5" name="Picture 4" descr="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61872"/>
            <a:ext cx="47548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1252728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Reveal &amp; bid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one open bid each — or pass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02536"/>
            <a:ext cx="438912" cy="438912"/>
          </a:xfrm>
          <a:prstGeom prst="ellipse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pic>
        <p:nvPicPr>
          <p:cNvPr id="8" name="Picture 7" descr="overs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84248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975104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New Overseer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lowest bid (or first pass) takes the figure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24912"/>
            <a:ext cx="438912" cy="438912"/>
          </a:xfrm>
          <a:prstGeom prst="ellipse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pic>
        <p:nvPicPr>
          <p:cNvPr id="11" name="Picture 10" descr="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706624"/>
            <a:ext cx="475488" cy="4754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974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Take &amp; place tiles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highest bidder picks first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A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pic>
        <p:nvPicPr>
          <p:cNvPr id="14" name="Picture 13" descr="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429000"/>
            <a:ext cx="475488" cy="475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419856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Bribe the Overseer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one canal gets built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69664"/>
            <a:ext cx="438912" cy="438912"/>
          </a:xfrm>
          <a:prstGeom prst="ellipse">
            <a:avLst/>
          </a:prstGeom>
          <a:solidFill>
            <a:srgbClr val="2A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pic>
        <p:nvPicPr>
          <p:cNvPr id="17" name="Picture 16" descr="wa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151376"/>
            <a:ext cx="475488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74519" y="414223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Extra irrigation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one player may use their extra canal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92040"/>
            <a:ext cx="438912" cy="438912"/>
          </a:xfrm>
          <a:prstGeom prst="ellipse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pic>
        <p:nvPicPr>
          <p:cNvPr id="20" name="Picture 19" descr="su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873752"/>
            <a:ext cx="475488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74519" y="4864608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Drying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dry plantations suffer (skip in last round)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614416"/>
            <a:ext cx="438912" cy="438912"/>
          </a:xfrm>
          <a:prstGeom prst="ellipse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pic>
        <p:nvPicPr>
          <p:cNvPr id="23" name="Picture 22" descr="co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5596128"/>
            <a:ext cx="47548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74519" y="5586984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3A2C1A"/>
                </a:solidFill>
                <a:latin typeface="Georgia"/>
              </a:rPr>
              <a:t>Income  </a:t>
            </a:r>
            <a:r>
              <a:rPr sz="1600" b="0" i="0">
                <a:solidFill>
                  <a:srgbClr val="3A2C1A"/>
                </a:solidFill>
                <a:latin typeface="Georgia"/>
              </a:rPr>
              <a:t>— everyone collects 3 Escudos (skip in last round)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Phases 1–2 — the auction</a:t>
            </a:r>
          </a:p>
          <a:p>
            <a:r>
              <a:rPr sz="1300" b="0" i="1">
                <a:solidFill>
                  <a:srgbClr val="FFE8C8"/>
                </a:solidFill>
                <a:latin typeface="Georgia"/>
              </a:rPr>
              <a:t>One bid each, no second chances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Flip one tile per pile, then everyone bids once, openly — or passes.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Unique bids: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Every bid must be a NEW amount — bidding lower is allowed. All bids go to the bank, win or lose.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Consolation: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Lowest bid — or the first passer — becomes the new Canal Overseer.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20440"/>
            <a:ext cx="2606040" cy="22860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2C1A"/>
                </a:solidFill>
                <a:latin typeface="Georgia"/>
              </a:rPr>
              <a:t>Bernd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D4F"/>
                </a:solidFill>
                <a:latin typeface="Georgia"/>
              </a:rPr>
              <a:t>5 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2C1A"/>
                </a:solidFill>
                <a:latin typeface="Georgia"/>
              </a:rPr>
              <a:t>picks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520440"/>
            <a:ext cx="2606040" cy="22860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657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2C1A"/>
                </a:solidFill>
                <a:latin typeface="Georgia"/>
              </a:rPr>
              <a:t>Dagmar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1605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A2C1A"/>
                </a:solidFill>
                <a:latin typeface="Georgia"/>
              </a:rPr>
              <a:t>4 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800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2C1A"/>
                </a:solidFill>
                <a:latin typeface="Georgia"/>
              </a:rPr>
              <a:t>picks 2nd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520440"/>
            <a:ext cx="2606040" cy="22860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657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2C1A"/>
                </a:solidFill>
                <a:latin typeface="Georgia"/>
              </a:rPr>
              <a:t>Anika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A2C1A"/>
                </a:solidFill>
                <a:latin typeface="Georgia"/>
              </a:rPr>
              <a:t>1 Esc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800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2C1A"/>
                </a:solidFill>
                <a:latin typeface="Georgia"/>
              </a:rPr>
              <a:t>picks 3rd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3520440"/>
            <a:ext cx="2606040" cy="22860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657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2C1A"/>
                </a:solidFill>
                <a:latin typeface="Georgia"/>
              </a:rPr>
              <a:t>Chris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1605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03A2E"/>
                </a:solidFill>
                <a:latin typeface="Georgia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8006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2C1A"/>
                </a:solidFill>
                <a:latin typeface="Georgia"/>
              </a:rPr>
              <a:t>picks last</a:t>
            </a:r>
          </a:p>
        </p:txBody>
      </p:sp>
      <p:pic>
        <p:nvPicPr>
          <p:cNvPr id="21" name="Picture 20" descr="overs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1" y="5074920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06840" y="559612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622D"/>
                </a:solidFill>
                <a:latin typeface="Georgia"/>
              </a:rPr>
              <a:t>new Overseer!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722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A7FB8"/>
                </a:solidFill>
                <a:latin typeface="Georgia"/>
              </a:rPr>
              <a:t>High bid = first pick of land.  Low bid = power over the water.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Phase 3 — take &amp; place plantations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In descending bid order: take one revealed tile, place it on any free square, add your markers.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Penalty: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Passed players place one marker fewer than the planters shown.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3 players: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With 3 players the leftover tile is placed neutral — no markers — next to another plantation.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91840"/>
            <a:ext cx="4389120" cy="292608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7D4F"/>
                </a:solidFill>
                <a:latin typeface="Georgia"/>
              </a:rPr>
              <a:t>You bid</a:t>
            </a:r>
          </a:p>
        </p:txBody>
      </p:sp>
      <p:pic>
        <p:nvPicPr>
          <p:cNvPr id="7" name="Picture 6" descr="diag_bi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931920"/>
            <a:ext cx="173736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5760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2C1A"/>
                </a:solidFill>
                <a:latin typeface="Georgia"/>
              </a:rPr>
              <a:t>2 planters → your 2 markers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91840"/>
            <a:ext cx="4389120" cy="292608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29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03A2E"/>
                </a:solidFill>
                <a:latin typeface="Georgia"/>
              </a:rPr>
              <a:t>You passed</a:t>
            </a:r>
          </a:p>
        </p:txBody>
      </p:sp>
      <p:pic>
        <p:nvPicPr>
          <p:cNvPr id="11" name="Picture 10" descr="diag_pas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931920"/>
            <a:ext cx="173736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760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2C1A"/>
                </a:solidFill>
                <a:latin typeface="Georgia"/>
              </a:rPr>
              <a:t>2 planters → only 1 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Phase 4 — bribe the Canal Overseer</a:t>
            </a:r>
          </a:p>
          <a:p>
            <a:r>
              <a:rPr sz="1300" b="0" i="1">
                <a:solidFill>
                  <a:srgbClr val="FFE8C8"/>
                </a:solidFill>
                <a:latin typeface="Georgia"/>
              </a:rPr>
              <a:t>The heart of the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669280" cy="9144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704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481328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B0622D"/>
                </a:solidFill>
                <a:latin typeface="Georgia"/>
              </a:rPr>
              <a:t>Propose 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a canal + a bribe of 1+ Esc, placed openly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5669280" cy="9144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8608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2532888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B0622D"/>
                </a:solidFill>
                <a:latin typeface="Georgia"/>
              </a:rPr>
              <a:t>Support 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someone’s proposal with 1+ Esc more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5669280" cy="91440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30168"/>
            <a:ext cx="5943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3584448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B0622D"/>
                </a:solidFill>
                <a:latin typeface="Georgia"/>
              </a:rPr>
              <a:t>Pass 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and keep your money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72000"/>
            <a:ext cx="5669280" cy="1737360"/>
          </a:xfrm>
          <a:prstGeom prst="rect">
            <a:avLst/>
          </a:prstGeom>
          <a:solidFill>
            <a:srgbClr val="E2F0FA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3A2C1A"/>
                </a:solidFill>
                <a:latin typeface="Georgia"/>
              </a:rPr>
              <a:t>The Overseer then either </a:t>
            </a:r>
            <a:r>
              <a:rPr sz="1500" b="1" i="0">
                <a:solidFill>
                  <a:srgbClr val="2A7FB8"/>
                </a:solidFill>
                <a:latin typeface="Georgia"/>
              </a:rPr>
              <a:t>accepts ONE proposal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 — any one! — and pockets its bribe…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3A2C1A"/>
                </a:solidFill>
                <a:latin typeface="Georgia"/>
              </a:rPr>
              <a:t>…or </a:t>
            </a:r>
            <a:r>
              <a:rPr sz="1500" b="1" i="0">
                <a:solidFill>
                  <a:srgbClr val="2A7FB8"/>
                </a:solidFill>
                <a:latin typeface="Georgia"/>
              </a:rPr>
              <a:t>builds anywhere else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, paying the bank 1 Esc more than the highest bribe. Losing bribes are returned.</a:t>
            </a:r>
          </a:p>
        </p:txBody>
      </p:sp>
      <p:pic>
        <p:nvPicPr>
          <p:cNvPr id="15" name="Picture 14" descr="bri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554480"/>
            <a:ext cx="5120640" cy="39885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5593005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Two proposals (dashed, with bribes): Purple wants the beans watered, Gray the potatoes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Phases 5–7 — extra canal, drying, income</a:t>
            </a:r>
          </a:p>
        </p:txBody>
      </p:sp>
      <p:pic>
        <p:nvPicPr>
          <p:cNvPr id="4" name="Picture 3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1307592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B0622D"/>
                </a:solidFill>
                <a:latin typeface="Georgia"/>
              </a:rPr>
              <a:t>Extra irrigation  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— your ONE free canal for the whole game — only one player may build it per round</a:t>
            </a:r>
          </a:p>
        </p:txBody>
      </p:sp>
      <p:pic>
        <p:nvPicPr>
          <p:cNvPr id="6" name="Picture 5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2176272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B0622D"/>
                </a:solidFill>
                <a:latin typeface="Georgia"/>
              </a:rPr>
              <a:t>Drying  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— every plantation without a canal loses a marker; none left → desert</a:t>
            </a:r>
          </a:p>
        </p:txBody>
      </p:sp>
      <p:pic>
        <p:nvPicPr>
          <p:cNvPr id="8" name="Picture 7" descr="co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3044952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B0622D"/>
                </a:solidFill>
                <a:latin typeface="Georgia"/>
              </a:rPr>
              <a:t>Income  </a:t>
            </a:r>
            <a:r>
              <a:rPr sz="1500" b="0" i="0">
                <a:solidFill>
                  <a:srgbClr val="3A2C1A"/>
                </a:solidFill>
                <a:latin typeface="Georgia"/>
              </a:rPr>
              <a:t>— everyone collects 3 Escudos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2C1A"/>
                </a:solidFill>
                <a:latin typeface="Georgia"/>
              </a:rPr>
              <a:t>A plantation left dry, round after round:</a:t>
            </a:r>
          </a:p>
        </p:txBody>
      </p:sp>
      <p:pic>
        <p:nvPicPr>
          <p:cNvPr id="11" name="Picture 10" descr="drying_s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790" y="4617720"/>
            <a:ext cx="75799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94560" y="6130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…and desert can never be cultivated again. (Drying and income are skipped in the last round.)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Game end &amp; scoring</a:t>
            </a:r>
          </a:p>
          <a:p>
            <a:r>
              <a:rPr sz="1300" b="0" i="1">
                <a:solidFill>
                  <a:srgbClr val="FFE8C8"/>
                </a:solidFill>
                <a:latin typeface="Georgia"/>
              </a:rPr>
              <a:t>After the last tile is placed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Final drought: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Everything still dry turns to desert — even with markers on it.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B0622D"/>
                </a:solidFill>
                <a:latin typeface="Georgia"/>
              </a:rPr>
              <a:t>• </a:t>
            </a:r>
            <a:r>
              <a:rPr sz="1800" b="1" i="0">
                <a:solidFill>
                  <a:srgbClr val="3A2C1A"/>
                </a:solidFill>
                <a:latin typeface="Georgia"/>
              </a:rPr>
              <a:t>Score: </a:t>
            </a:r>
            <a:r>
              <a:rPr sz="1800" b="0" i="0">
                <a:solidFill>
                  <a:srgbClr val="3A2C1A"/>
                </a:solidFill>
                <a:latin typeface="Georgia"/>
              </a:rPr>
              <a:t>Keep your cash, then every area pays every player: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880360"/>
            <a:ext cx="1600200" cy="86868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36392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4F"/>
                </a:solidFill>
                <a:latin typeface="Georgia"/>
              </a:rPr>
              <a:t>tiles in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44952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A2C1A"/>
                </a:solidFill>
                <a:latin typeface="Georgia"/>
              </a:rPr>
              <a:t>×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880360"/>
            <a:ext cx="1600200" cy="86868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136392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622D"/>
                </a:solidFill>
                <a:latin typeface="Georgia"/>
              </a:rPr>
              <a:t>your 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044952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A2C1A"/>
                </a:solidFill>
                <a:latin typeface="Georgia"/>
              </a:rPr>
              <a:t>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880360"/>
            <a:ext cx="1600200" cy="86868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136392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7FB8"/>
                </a:solidFill>
                <a:latin typeface="Georgia"/>
              </a:rPr>
              <a:t>Escudos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622D"/>
                </a:solidFill>
                <a:latin typeface="Georgia"/>
              </a:rPr>
              <a:t>Beige: 4 tiles × 4 markers = 16 Esc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5371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A2C1A"/>
                </a:solidFill>
                <a:latin typeface="Georgia"/>
              </a:rPr>
              <a:t>Gray: 4 tiles × 1 marker = 4 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9262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3A2E"/>
                </a:solidFill>
                <a:latin typeface="Georgia"/>
              </a:rPr>
              <a:t>The desert tile pays nobody.</a:t>
            </a:r>
          </a:p>
        </p:txBody>
      </p:sp>
      <p:pic>
        <p:nvPicPr>
          <p:cNvPr id="16" name="Picture 15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8640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83080" y="565099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0622D"/>
                </a:solidFill>
                <a:latin typeface="Georgia"/>
              </a:rPr>
              <a:t>Most money wins!</a:t>
            </a:r>
          </a:p>
        </p:txBody>
      </p:sp>
      <p:pic>
        <p:nvPicPr>
          <p:cNvPr id="18" name="Picture 17" descr="sc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54480"/>
            <a:ext cx="5120640" cy="39885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80" y="5593005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A2C1A"/>
                </a:solidFill>
                <a:latin typeface="Georgia"/>
              </a:rPr>
              <a:t>Only irrigated, connected tiles pay — the flipped desert tile is gone for 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0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FFFFFF"/>
                </a:solidFill>
                <a:latin typeface="Georgia"/>
              </a:rPr>
              <a:t>Tips for your first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5394960" cy="219456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1719072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B0622D"/>
                </a:solidFill>
                <a:latin typeface="Georgia"/>
              </a:rPr>
              <a:t>Water is scarce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3A2C1A"/>
                </a:solidFill>
                <a:latin typeface="Georgia"/>
              </a:rPr>
              <a:t>only 15 canals all game — many fields WILL become desert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394960" cy="219456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vers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3736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3800" y="1719072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B0622D"/>
                </a:solidFill>
                <a:latin typeface="Georgia"/>
              </a:rPr>
              <a:t>Cheap bids buy power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3A2C1A"/>
                </a:solidFill>
                <a:latin typeface="Georgia"/>
              </a:rPr>
              <a:t>the Overseer earns bribes and steers the water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931920"/>
            <a:ext cx="5394960" cy="219456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3080" y="4187952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B0622D"/>
                </a:solidFill>
                <a:latin typeface="Georgia"/>
              </a:rPr>
              <a:t>Check who profits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3A2C1A"/>
                </a:solidFill>
                <a:latin typeface="Georgia"/>
              </a:rPr>
              <a:t>growing an area helps everyone with markers on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31920"/>
            <a:ext cx="5394960" cy="2194560"/>
          </a:xfrm>
          <a:prstGeom prst="rect">
            <a:avLst/>
          </a:prstGeom>
          <a:solidFill>
            <a:srgbClr val="FFFAF0"/>
          </a:solidFill>
          <a:ln w="15875">
            <a:solidFill>
              <a:srgbClr val="D8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06240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800" y="4187952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B0622D"/>
                </a:solidFill>
                <a:latin typeface="Georgia"/>
              </a:rPr>
              <a:t>Save the extra canal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3A2C1A"/>
                </a:solidFill>
                <a:latin typeface="Georgia"/>
              </a:rPr>
              <a:t>one per game — spend it where no bribe will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04A"/>
                </a:solidFill>
                <a:latin typeface="Georgia"/>
              </a:rPr>
              <a:t>Santiago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2A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Play it online — asynchronously</a:t>
            </a:r>
          </a:p>
          <a:p>
            <a:pPr algn="ctr"/>
            <a:r>
              <a:rPr sz="2800" b="1" i="0">
                <a:solidFill>
                  <a:srgbClr val="FFE8A8"/>
                </a:solidFill>
                <a:latin typeface="Georgia"/>
              </a:rPr>
              <a:t>budoludo.com/santiago</a:t>
            </a:r>
          </a:p>
        </p:txBody>
      </p:sp>
      <p:pic>
        <p:nvPicPr>
          <p:cNvPr id="4" name="Picture 3" descr="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4709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700" b="0" i="0">
                <a:solidFill>
                  <a:srgbClr val="3A2C1A"/>
                </a:solidFill>
                <a:latin typeface="Georgia"/>
              </a:rPr>
              <a:t>Personal secret links — no accounts, no passwords.</a:t>
            </a:r>
          </a:p>
          <a:p>
            <a:pPr algn="ctr"/>
            <a:r>
              <a:rPr sz="1700" b="0" i="0">
                <a:solidFill>
                  <a:srgbClr val="3A2C1A"/>
                </a:solidFill>
                <a:latin typeface="Georgia"/>
              </a:rPr>
              <a:t>An email lands whenever it is your turn.</a:t>
            </a:r>
          </a:p>
        </p:txBody>
      </p:sp>
      <p:pic>
        <p:nvPicPr>
          <p:cNvPr id="6" name="Picture 5" descr="tile_ban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48640"/>
            <a:ext cx="731520" cy="731520"/>
          </a:xfrm>
          <a:prstGeom prst="rect">
            <a:avLst/>
          </a:prstGeom>
        </p:spPr>
      </p:pic>
      <p:pic>
        <p:nvPicPr>
          <p:cNvPr id="7" name="Picture 6" descr="tile_sug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48640"/>
            <a:ext cx="731520" cy="731520"/>
          </a:xfrm>
          <a:prstGeom prst="rect">
            <a:avLst/>
          </a:prstGeom>
        </p:spPr>
      </p:pic>
      <p:pic>
        <p:nvPicPr>
          <p:cNvPr id="8" name="Picture 7" descr="tile_pota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548640"/>
            <a:ext cx="731520" cy="731520"/>
          </a:xfrm>
          <a:prstGeom prst="rect">
            <a:avLst/>
          </a:prstGeom>
        </p:spPr>
      </p:pic>
      <p:pic>
        <p:nvPicPr>
          <p:cNvPr id="9" name="Picture 8" descr="tile_b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48640"/>
            <a:ext cx="731520" cy="731520"/>
          </a:xfrm>
          <a:prstGeom prst="rect">
            <a:avLst/>
          </a:prstGeom>
        </p:spPr>
      </p:pic>
      <p:pic>
        <p:nvPicPr>
          <p:cNvPr id="10" name="Picture 9" descr="tile_pep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